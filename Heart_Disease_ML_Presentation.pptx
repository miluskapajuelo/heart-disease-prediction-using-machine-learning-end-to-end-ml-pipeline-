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23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Open warm: 'Heart disease is the world's number-one killer. I wanted to see if machine learning could help catch it earlier.' Set up that this is an end-to-end ML engineering project. Drop the headline: ROC-AUC 0.894, three models compared, fully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The 'why'. Two reasons: (1) I wanted technology that actually serves people — early screening for a disease that matters. (2) I wanted a real engineering challenge, not a toy notebook. This dual motivation shaped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Frame the ML problem: binary classification from routine clinical measurements. Key point — recall matters most: missing a sick patient is worse than a false alarm, so I optimize and judge on recall, not just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~35s. Walk the pipeline left to right quickly. Emphasize three things: I split BEFORE preprocessing, the logic lives in tested modules (not just notebooks), and runs are reproducible. This is what makes it 'engineering', not just 'modeling'.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~40s. Two decisions I'm proud of. Leakage prevention — split first so test data never leaks into the transforms. Generalization gap — I check CV vs test; Random Forest's wider 0.063 gap flagged overfitting. The figure shows class balance held across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~35s. I engineered two clinical features: an ischemia score and a stroke-volume proxy. Crucially I didn't just add them — I validated with correlation, VIF, multicollinearity, and ablation. Tease: they ended up in the top predictors.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~40s. Results. XGBoost won — best ROC-AUC 0.894 with a healthy 0.050 gap. Recall 78.8%: caught 26 of 33 disease cases. Be honest about the 7 missed — that's the real-world limitation in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Explainability. SHAP shows what drives predictions. Payoff moment: my engineered ischemia_score is the single strongest driver and est_stroke_volume is also top-three — proof the feature engineering added genuine signal, not noise. Chest pain type (cp) follows close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~40s. The growth story — the heart of the talk. I went from code-that-runs to engineering models I can trust: thinking about leakage and reproducibility, measuring what matters, making models accountable with SHAP, and communicating limitations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Close. State limitations plainly (small data, not deployable). Then the roadmap: Optuna, calibration, FastAPI, Docker, CI/CD. End on the mission line: build technology that helps people — reliably and explainably.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61520" cy="1783080"/>
          </a:xfrm>
          <a:prstGeom prst="rect">
            <a:avLst/>
          </a:prstGeom>
          <a:solidFill>
            <a:srgbClr val="16314D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END-TO-END ML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Risk Prediction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technology to detect one of the world's leading causes of death, earlier.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
</a:t>
            </a:r>
            <a:r>
              <a:rPr lang="en-US" sz="1200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566160" y="5349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r>
              <a:rPr lang="en-US" sz="1200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309360" y="5349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
</a:t>
            </a:r>
            <a:r>
              <a:rPr lang="en-US" sz="1200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Jhoselyn Miluska Pajuelo</a:t>
            </a:r>
            <a:r>
              <a:rPr lang="en-US" sz="1400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Software Engineer → AI / ML Engineer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built this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motivations drove the project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Shape 3"/>
          <p:cNvSpPr/>
          <p:nvPr/>
        </p:nvSpPr>
        <p:spPr>
          <a:xfrm>
            <a:off x="1188720" y="2057400"/>
            <a:ext cx="640080" cy="64008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1298448" y="2167128"/>
            <a:ext cx="420624" cy="420624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that serves people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65760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 world's leading cause of death. I wanted to apply ML to a problem that genuinely matters — supporting earlier screening so high-risk patients can be flagged before it's too late.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Shape 8"/>
          <p:cNvSpPr/>
          <p:nvPr/>
        </p:nvSpPr>
        <p:spPr>
          <a:xfrm>
            <a:off x="6675120" y="2057400"/>
            <a:ext cx="640080" cy="64008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Shape 9"/>
          <p:cNvSpPr/>
          <p:nvPr/>
        </p:nvSpPr>
        <p:spPr>
          <a:xfrm>
            <a:off x="6784848" y="2167128"/>
            <a:ext cx="420624" cy="420624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engineering challenge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365760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training a model, but building the full workflow the way it's done in practice: clean structure, leakage prevention, model comparison, and explainability I can defend.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6539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⚙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framed for ML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binary classification task
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patient is likely to have heart disease from routine clinical measurements (age, chest pain type, blood pressure, cholesterol, max heart rate, and more).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1143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recall matters most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4434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screening context, missing a sick patient (a false negative) is far more harmful than a false alarm. So the model is judged on recall — not just accuracy.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8" name="Shape 6"/>
          <p:cNvSpPr/>
          <p:nvPr/>
        </p:nvSpPr>
        <p:spPr>
          <a:xfrm>
            <a:off x="6812280" y="2103120"/>
            <a:ext cx="1005840" cy="1005840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681228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467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heart disease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384048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3" name="Shape 11"/>
          <p:cNvSpPr/>
          <p:nvPr/>
        </p:nvSpPr>
        <p:spPr>
          <a:xfrm>
            <a:off x="6812280" y="4251960"/>
            <a:ext cx="1005840" cy="100584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4" name="Text 12"/>
          <p:cNvSpPr/>
          <p:nvPr/>
        </p:nvSpPr>
        <p:spPr>
          <a:xfrm>
            <a:off x="6812280" y="4251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4672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reusable modules — not just notebooks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5" name="Shape 3"/>
          <p:cNvSpPr/>
          <p:nvPr/>
        </p:nvSpPr>
        <p:spPr>
          <a:xfrm>
            <a:off x="1280160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128016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48256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85416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0" name="Shape 8"/>
          <p:cNvSpPr/>
          <p:nvPr/>
        </p:nvSpPr>
        <p:spPr>
          <a:xfrm>
            <a:off x="2642616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2642616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85416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10712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47872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5" name="Shape 13"/>
          <p:cNvSpPr/>
          <p:nvPr/>
        </p:nvSpPr>
        <p:spPr>
          <a:xfrm>
            <a:off x="4005072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400507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7872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73168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10328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0" name="Shape 18"/>
          <p:cNvSpPr/>
          <p:nvPr/>
        </p:nvSpPr>
        <p:spPr>
          <a:xfrm>
            <a:off x="5367528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" name="Text 19"/>
          <p:cNvSpPr/>
          <p:nvPr/>
        </p:nvSpPr>
        <p:spPr>
          <a:xfrm>
            <a:off x="5367528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35624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72784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5" name="Shape 23"/>
          <p:cNvSpPr/>
          <p:nvPr/>
        </p:nvSpPr>
        <p:spPr>
          <a:xfrm>
            <a:off x="6729984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6" name="Text 24"/>
          <p:cNvSpPr/>
          <p:nvPr/>
        </p:nvSpPr>
        <p:spPr>
          <a:xfrm>
            <a:off x="6729984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98080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35240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30" name="Shape 28"/>
          <p:cNvSpPr/>
          <p:nvPr/>
        </p:nvSpPr>
        <p:spPr>
          <a:xfrm>
            <a:off x="8092440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1" name="Text 29"/>
          <p:cNvSpPr/>
          <p:nvPr/>
        </p:nvSpPr>
        <p:spPr>
          <a:xfrm>
            <a:off x="809244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60536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997696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34A6E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35" name="Shape 33"/>
          <p:cNvSpPr/>
          <p:nvPr/>
        </p:nvSpPr>
        <p:spPr>
          <a:xfrm>
            <a:off x="9454896" y="2496312"/>
            <a:ext cx="329184" cy="329184"/>
          </a:xfrm>
          <a:prstGeom prst="ellipse">
            <a:avLst/>
          </a:prstGeom>
          <a:solidFill>
            <a:srgbClr val="5B8FC4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6" name="Text 34"/>
          <p:cNvSpPr/>
          <p:nvPr/>
        </p:nvSpPr>
        <p:spPr>
          <a:xfrm>
            <a:off x="9454896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97696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222992" y="2331720"/>
            <a:ext cx="210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8FC4"/>
                </a:solidFill>
              </a:rPr>
              <a:t>›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360152" y="2331720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2E6FB0"/>
          </a:solidFill>
          <a:ln w="9525">
            <a:solidFill>
              <a:srgbClr val="5B8FC4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0" name="Shape 38"/>
          <p:cNvSpPr/>
          <p:nvPr/>
        </p:nvSpPr>
        <p:spPr>
          <a:xfrm>
            <a:off x="10817352" y="249631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" name="Text 39"/>
          <p:cNvSpPr/>
          <p:nvPr/>
        </p:nvSpPr>
        <p:spPr>
          <a:xfrm>
            <a:off x="10817352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60152" y="2880360"/>
            <a:ext cx="1243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22960" y="4297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preprocessing
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separated first, so no test information leaks into scaling or imputation.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4526280" y="4297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source code
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lives in src/ modules with pytest tests — notebooks stay for exploration only.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8229600" y="4297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design
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runs and saved artifacts make every result repeatable.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 that matter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" name="Shape 2"/>
          <p:cNvSpPr/>
          <p:nvPr/>
        </p:nvSpPr>
        <p:spPr>
          <a:xfrm>
            <a:off x="1143000" y="1920240"/>
            <a:ext cx="502920" cy="50292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11430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prevention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split the data before any preprocessing or feature engineering, so validation and test sets never influence the transforms learned on training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9" name="Shape 7"/>
          <p:cNvSpPr/>
          <p:nvPr/>
        </p:nvSpPr>
        <p:spPr>
          <a:xfrm>
            <a:off x="1143000" y="4069080"/>
            <a:ext cx="502920" cy="50292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11430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gap analysis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was checked with cross-validation AND held-out test performance. Random Forest showed the widest gap (0.063) — a sign of overfitting.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4754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4" name="Text 12"/>
          <p:cNvSpPr/>
          <p:nvPr/>
        </p:nvSpPr>
        <p:spPr>
          <a:xfrm>
            <a:off x="681228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preserved across splits</a:t>
            </a:r>
            <a:endParaRPr lang="en-US" sz="1350" dirty="0"/>
          </a:p>
        </p:txBody>
      </p:sp>
      <p:pic>
        <p:nvPicPr>
          <p:cNvPr id="15" name="Image 0" descr="figures/split_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286000"/>
            <a:ext cx="4297680" cy="143095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12280" y="411480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keeps the disease / no-disease ratio consistent in train, validation, and test.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Domain-inspired 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from clinical reasoning — then validated they actually added signal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118872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Ischemia Score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88720" y="2423160"/>
            <a:ext cx="4297680" cy="548640"/>
          </a:xfrm>
          <a:prstGeom prst="roundRect">
            <a:avLst>
              <a:gd name="adj" fmla="val 8333"/>
            </a:avLst>
          </a:prstGeom>
          <a:solidFill>
            <a:srgbClr val="1F2A36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1280160" y="2423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oldpeak + exang + (ca / 3)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30632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several indicators of cardiac stress into one composite signal.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667512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Est. Stroke Volume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675120" y="2423160"/>
            <a:ext cx="4297680" cy="548640"/>
          </a:xfrm>
          <a:prstGeom prst="roundRect">
            <a:avLst>
              <a:gd name="adj" fmla="val 8333"/>
            </a:avLst>
          </a:prstGeom>
          <a:solidFill>
            <a:srgbClr val="1F2A36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766560" y="2423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(trestbps / thalach) × (age / 50)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30632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for cardiovascular efficiency under stress.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4309872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11430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four ways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4983480"/>
            <a:ext cx="292608" cy="292608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114300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27048" y="4937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target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55666" y="4989068"/>
            <a:ext cx="292608" cy="292608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0" name="Text 18"/>
          <p:cNvSpPr/>
          <p:nvPr/>
        </p:nvSpPr>
        <p:spPr>
          <a:xfrm>
            <a:off x="5457190" y="50093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48274" y="4937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check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0" y="4983480"/>
            <a:ext cx="292608" cy="292608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6" name="Text 24"/>
          <p:cNvSpPr/>
          <p:nvPr/>
        </p:nvSpPr>
        <p:spPr>
          <a:xfrm>
            <a:off x="896112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45168" y="4937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tests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" y="5440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engineered features ranked in the top three predictors by SHAP — confirming the strategy paid off.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selected — best ROC-AUC with a healthy generalization gap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pic>
        <p:nvPicPr>
          <p:cNvPr id="5" name="Image 0" descr="figures/roc_curves_all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359" y="1874520"/>
            <a:ext cx="3570882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486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all models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83080"/>
          <a:ext cx="5852160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41605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
</a:t>
            </a:r>
            <a:endParaRPr lang="en-US" sz="3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452360" y="41605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
</a:t>
            </a:r>
            <a:endParaRPr lang="en-US" sz="3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(26/33 caught)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9418320" y="41605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
</a:t>
            </a:r>
            <a:endParaRPr lang="en-US" sz="3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test gap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5486400" y="54406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26 of 33 disease cases. The 7 missed (false negatives) remain the key limitation in a screening setting.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not a black box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which features drive each prediction and the engineered ones earned their place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1350" dirty="0"/>
          </a:p>
        </p:txBody>
      </p:sp>
      <p:pic>
        <p:nvPicPr>
          <p:cNvPr id="6" name="Image 0" descr="figures/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5943600" cy="2856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69164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8" name="Text 5"/>
          <p:cNvSpPr/>
          <p:nvPr/>
        </p:nvSpPr>
        <p:spPr>
          <a:xfrm>
            <a:off x="768096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drivers (by mean |SHAP|)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2423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2423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isquemia_score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37844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80960" y="29260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37844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type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680960" y="3429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3429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est_stroke_volume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3784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680960" y="3931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46720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378440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680960" y="4434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37844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sex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680960" y="4937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46720" y="4937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37844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segment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680960" y="5486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engineered features landed in the top three.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grew building this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34A6E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Shape 3"/>
          <p:cNvSpPr/>
          <p:nvPr/>
        </p:nvSpPr>
        <p:spPr>
          <a:xfrm>
            <a:off x="1143000" y="2103120"/>
            <a:ext cx="502920" cy="50292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11430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like an ML engineer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design for leakage prevention, reproducibility, and a clean split between exploration and production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34A6E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Shape 8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66294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what truly matters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75120" y="26974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beyond accuracy to recall, ROC-AUC, and generalization-gap analysis, metrics that fit the real problem.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34A6E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5" name="Shape 13"/>
          <p:cNvSpPr/>
          <p:nvPr/>
        </p:nvSpPr>
        <p:spPr>
          <a:xfrm>
            <a:off x="1143000" y="4160520"/>
            <a:ext cx="502920" cy="502920"/>
          </a:xfrm>
          <a:prstGeom prst="ellipse">
            <a:avLst/>
          </a:prstGeom>
          <a:solidFill>
            <a:srgbClr val="2E6FB0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11430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models accountable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88720" y="475488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SHAP to explain predictions and to validate that my engineered features added genuine signal.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15544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" name="Text 2"/>
          <p:cNvSpPr/>
          <p:nvPr/>
        </p:nvSpPr>
        <p:spPr>
          <a:xfrm>
            <a:off x="11430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— not clinically deployable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898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demographic information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still a concern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01600" dist="38100" dir="5400000" algn="bl" rotWithShape="0">
              <a:srgbClr val="1B3A5B">
                <a:alpha val="13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644652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a 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898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SHAP results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34655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0325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→"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package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5989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Jhoselyn Pajuelo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1251</Words>
  <Application>Microsoft Macintosh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Risk Prediction with Machine Learning</dc:title>
  <dc:subject>PptxGenJS Presentation</dc:subject>
  <dc:creator>Jhoselyn Miluska Pajuelo</dc:creator>
  <cp:lastModifiedBy>Pajuelo Villanueva, Jhoselyn</cp:lastModifiedBy>
  <cp:revision>2</cp:revision>
  <dcterms:created xsi:type="dcterms:W3CDTF">2026-06-23T21:25:15Z</dcterms:created>
  <dcterms:modified xsi:type="dcterms:W3CDTF">2026-06-24T11:03:50Z</dcterms:modified>
</cp:coreProperties>
</file>